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1" r:id="rId4"/>
    <p:sldId id="258" r:id="rId5"/>
    <p:sldId id="260" r:id="rId6"/>
    <p:sldId id="295" r:id="rId7"/>
    <p:sldId id="259" r:id="rId8"/>
    <p:sldId id="265" r:id="rId9"/>
    <p:sldId id="270" r:id="rId10"/>
    <p:sldId id="275" r:id="rId11"/>
    <p:sldId id="276" r:id="rId12"/>
    <p:sldId id="278" r:id="rId13"/>
    <p:sldId id="279" r:id="rId14"/>
    <p:sldId id="282" r:id="rId15"/>
    <p:sldId id="283" r:id="rId16"/>
    <p:sldId id="285" r:id="rId17"/>
    <p:sldId id="286" r:id="rId18"/>
    <p:sldId id="287" r:id="rId19"/>
    <p:sldId id="288" r:id="rId20"/>
    <p:sldId id="289" r:id="rId21"/>
    <p:sldId id="291" r:id="rId22"/>
    <p:sldId id="292" r:id="rId23"/>
    <p:sldId id="293" r:id="rId24"/>
    <p:sldId id="294" r:id="rId25"/>
    <p:sldId id="29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E096AA-0986-4E58-802B-8EC185161336}" v="112" dt="2022-09-23T22:18:16.6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Chan" userId="bdab1885-a4c3-4bef-8064-6c8bcf0309df" providerId="ADAL" clId="{08E096AA-0986-4E58-802B-8EC185161336}"/>
    <pc:docChg chg="delSld modSld">
      <pc:chgData name="Victor Chan" userId="bdab1885-a4c3-4bef-8064-6c8bcf0309df" providerId="ADAL" clId="{08E096AA-0986-4E58-802B-8EC185161336}" dt="2022-09-23T22:18:59.025" v="139" actId="2696"/>
      <pc:docMkLst>
        <pc:docMk/>
      </pc:docMkLst>
      <pc:sldChg chg="del">
        <pc:chgData name="Victor Chan" userId="bdab1885-a4c3-4bef-8064-6c8bcf0309df" providerId="ADAL" clId="{08E096AA-0986-4E58-802B-8EC185161336}" dt="2022-09-23T22:18:48.628" v="137" actId="2696"/>
        <pc:sldMkLst>
          <pc:docMk/>
          <pc:sldMk cId="1836893381" sldId="273"/>
        </pc:sldMkLst>
      </pc:sldChg>
      <pc:sldChg chg="del">
        <pc:chgData name="Victor Chan" userId="bdab1885-a4c3-4bef-8064-6c8bcf0309df" providerId="ADAL" clId="{08E096AA-0986-4E58-802B-8EC185161336}" dt="2022-09-23T22:08:34.497" v="0" actId="2696"/>
        <pc:sldMkLst>
          <pc:docMk/>
          <pc:sldMk cId="50461419" sldId="281"/>
        </pc:sldMkLst>
      </pc:sldChg>
      <pc:sldChg chg="del">
        <pc:chgData name="Victor Chan" userId="bdab1885-a4c3-4bef-8064-6c8bcf0309df" providerId="ADAL" clId="{08E096AA-0986-4E58-802B-8EC185161336}" dt="2022-09-23T22:18:48.628" v="137" actId="2696"/>
        <pc:sldMkLst>
          <pc:docMk/>
          <pc:sldMk cId="536147315" sldId="281"/>
        </pc:sldMkLst>
      </pc:sldChg>
      <pc:sldChg chg="modSp mod">
        <pc:chgData name="Victor Chan" userId="bdab1885-a4c3-4bef-8064-6c8bcf0309df" providerId="ADAL" clId="{08E096AA-0986-4E58-802B-8EC185161336}" dt="2022-09-23T22:11:20.333" v="70" actId="255"/>
        <pc:sldMkLst>
          <pc:docMk/>
          <pc:sldMk cId="417822848" sldId="283"/>
        </pc:sldMkLst>
        <pc:spChg chg="mod">
          <ac:chgData name="Victor Chan" userId="bdab1885-a4c3-4bef-8064-6c8bcf0309df" providerId="ADAL" clId="{08E096AA-0986-4E58-802B-8EC185161336}" dt="2022-09-23T22:11:20.333" v="70" actId="255"/>
          <ac:spMkLst>
            <pc:docMk/>
            <pc:sldMk cId="417822848" sldId="283"/>
            <ac:spMk id="3" creationId="{38C996A4-3FCA-DE24-5B75-8918E69C25B6}"/>
          </ac:spMkLst>
        </pc:spChg>
      </pc:sldChg>
      <pc:sldChg chg="del">
        <pc:chgData name="Victor Chan" userId="bdab1885-a4c3-4bef-8064-6c8bcf0309df" providerId="ADAL" clId="{08E096AA-0986-4E58-802B-8EC185161336}" dt="2022-09-23T22:11:37.573" v="71" actId="2696"/>
        <pc:sldMkLst>
          <pc:docMk/>
          <pc:sldMk cId="60264996" sldId="284"/>
        </pc:sldMkLst>
      </pc:sldChg>
      <pc:sldChg chg="del">
        <pc:chgData name="Victor Chan" userId="bdab1885-a4c3-4bef-8064-6c8bcf0309df" providerId="ADAL" clId="{08E096AA-0986-4E58-802B-8EC185161336}" dt="2022-09-23T22:18:48.628" v="137" actId="2696"/>
        <pc:sldMkLst>
          <pc:docMk/>
          <pc:sldMk cId="450493956" sldId="284"/>
        </pc:sldMkLst>
      </pc:sldChg>
      <pc:sldChg chg="modSp">
        <pc:chgData name="Victor Chan" userId="bdab1885-a4c3-4bef-8064-6c8bcf0309df" providerId="ADAL" clId="{08E096AA-0986-4E58-802B-8EC185161336}" dt="2022-09-23T22:18:16.601" v="136" actId="20577"/>
        <pc:sldMkLst>
          <pc:docMk/>
          <pc:sldMk cId="737864476" sldId="288"/>
        </pc:sldMkLst>
        <pc:spChg chg="mod">
          <ac:chgData name="Victor Chan" userId="bdab1885-a4c3-4bef-8064-6c8bcf0309df" providerId="ADAL" clId="{08E096AA-0986-4E58-802B-8EC185161336}" dt="2022-09-23T22:18:16.601" v="136" actId="20577"/>
          <ac:spMkLst>
            <pc:docMk/>
            <pc:sldMk cId="737864476" sldId="288"/>
            <ac:spMk id="12" creationId="{6C8B42CB-BA37-E644-785E-9DCEDD46236E}"/>
          </ac:spMkLst>
        </pc:spChg>
      </pc:sldChg>
      <pc:sldChg chg="modSp">
        <pc:chgData name="Victor Chan" userId="bdab1885-a4c3-4bef-8064-6c8bcf0309df" providerId="ADAL" clId="{08E096AA-0986-4E58-802B-8EC185161336}" dt="2022-09-23T22:15:55.016" v="120" actId="20577"/>
        <pc:sldMkLst>
          <pc:docMk/>
          <pc:sldMk cId="2678211492" sldId="291"/>
        </pc:sldMkLst>
        <pc:spChg chg="mod">
          <ac:chgData name="Victor Chan" userId="bdab1885-a4c3-4bef-8064-6c8bcf0309df" providerId="ADAL" clId="{08E096AA-0986-4E58-802B-8EC185161336}" dt="2022-09-23T22:15:55.016" v="120" actId="20577"/>
          <ac:spMkLst>
            <pc:docMk/>
            <pc:sldMk cId="2678211492" sldId="291"/>
            <ac:spMk id="3" creationId="{4E5C3DBC-6891-6C5D-95E3-8ABD285C4C46}"/>
          </ac:spMkLst>
        </pc:spChg>
      </pc:sldChg>
      <pc:sldChg chg="modSp">
        <pc:chgData name="Victor Chan" userId="bdab1885-a4c3-4bef-8064-6c8bcf0309df" providerId="ADAL" clId="{08E096AA-0986-4E58-802B-8EC185161336}" dt="2022-09-23T22:14:59.712" v="105" actId="20577"/>
        <pc:sldMkLst>
          <pc:docMk/>
          <pc:sldMk cId="2176477170" sldId="292"/>
        </pc:sldMkLst>
        <pc:spChg chg="mod">
          <ac:chgData name="Victor Chan" userId="bdab1885-a4c3-4bef-8064-6c8bcf0309df" providerId="ADAL" clId="{08E096AA-0986-4E58-802B-8EC185161336}" dt="2022-09-23T22:14:59.712" v="105" actId="20577"/>
          <ac:spMkLst>
            <pc:docMk/>
            <pc:sldMk cId="2176477170" sldId="292"/>
            <ac:spMk id="2" creationId="{860430CC-67E8-00C2-4DAA-613E10274A03}"/>
          </ac:spMkLst>
        </pc:spChg>
      </pc:sldChg>
      <pc:sldChg chg="del">
        <pc:chgData name="Victor Chan" userId="bdab1885-a4c3-4bef-8064-6c8bcf0309df" providerId="ADAL" clId="{08E096AA-0986-4E58-802B-8EC185161336}" dt="2022-09-23T22:18:56.303" v="138" actId="2696"/>
        <pc:sldMkLst>
          <pc:docMk/>
          <pc:sldMk cId="3248834990" sldId="297"/>
        </pc:sldMkLst>
      </pc:sldChg>
      <pc:sldChg chg="del">
        <pc:chgData name="Victor Chan" userId="bdab1885-a4c3-4bef-8064-6c8bcf0309df" providerId="ADAL" clId="{08E096AA-0986-4E58-802B-8EC185161336}" dt="2022-09-23T22:18:59.025" v="139" actId="2696"/>
        <pc:sldMkLst>
          <pc:docMk/>
          <pc:sldMk cId="1834052504" sldId="298"/>
        </pc:sldMkLst>
      </pc:sldChg>
      <pc:sldChg chg="del">
        <pc:chgData name="Victor Chan" userId="bdab1885-a4c3-4bef-8064-6c8bcf0309df" providerId="ADAL" clId="{08E096AA-0986-4E58-802B-8EC185161336}" dt="2022-09-23T22:18:48.628" v="137" actId="2696"/>
        <pc:sldMkLst>
          <pc:docMk/>
          <pc:sldMk cId="1745615484" sldId="299"/>
        </pc:sldMkLst>
      </pc:sldChg>
      <pc:sldChg chg="del">
        <pc:chgData name="Victor Chan" userId="bdab1885-a4c3-4bef-8064-6c8bcf0309df" providerId="ADAL" clId="{08E096AA-0986-4E58-802B-8EC185161336}" dt="2022-09-23T22:18:48.628" v="137" actId="2696"/>
        <pc:sldMkLst>
          <pc:docMk/>
          <pc:sldMk cId="1518183774" sldId="300"/>
        </pc:sldMkLst>
      </pc:sldChg>
      <pc:sldChg chg="del">
        <pc:chgData name="Victor Chan" userId="bdab1885-a4c3-4bef-8064-6c8bcf0309df" providerId="ADAL" clId="{08E096AA-0986-4E58-802B-8EC185161336}" dt="2022-09-23T22:18:48.628" v="137" actId="2696"/>
        <pc:sldMkLst>
          <pc:docMk/>
          <pc:sldMk cId="360448114" sldId="301"/>
        </pc:sldMkLst>
      </pc:sldChg>
      <pc:sldChg chg="del">
        <pc:chgData name="Victor Chan" userId="bdab1885-a4c3-4bef-8064-6c8bcf0309df" providerId="ADAL" clId="{08E096AA-0986-4E58-802B-8EC185161336}" dt="2022-09-23T22:18:48.628" v="137" actId="2696"/>
        <pc:sldMkLst>
          <pc:docMk/>
          <pc:sldMk cId="121225195" sldId="302"/>
        </pc:sldMkLst>
      </pc:sldChg>
      <pc:sldChg chg="del">
        <pc:chgData name="Victor Chan" userId="bdab1885-a4c3-4bef-8064-6c8bcf0309df" providerId="ADAL" clId="{08E096AA-0986-4E58-802B-8EC185161336}" dt="2022-09-23T22:18:48.628" v="137" actId="2696"/>
        <pc:sldMkLst>
          <pc:docMk/>
          <pc:sldMk cId="1362820327" sldId="303"/>
        </pc:sldMkLst>
      </pc:sldChg>
      <pc:sldChg chg="del">
        <pc:chgData name="Victor Chan" userId="bdab1885-a4c3-4bef-8064-6c8bcf0309df" providerId="ADAL" clId="{08E096AA-0986-4E58-802B-8EC185161336}" dt="2022-09-23T22:18:48.628" v="137" actId="2696"/>
        <pc:sldMkLst>
          <pc:docMk/>
          <pc:sldMk cId="256787129" sldId="304"/>
        </pc:sldMkLst>
      </pc:sldChg>
    </pc:docChg>
  </pc:docChgLst>
  <pc:docChgLst>
    <pc:chgData name="Victor Chan" userId="bdab1885-a4c3-4bef-8064-6c8bcf0309df" providerId="ADAL" clId="{49BE00F7-23E8-4EB7-AC42-982618477FBC}"/>
    <pc:docChg chg="modSld">
      <pc:chgData name="Victor Chan" userId="bdab1885-a4c3-4bef-8064-6c8bcf0309df" providerId="ADAL" clId="{49BE00F7-23E8-4EB7-AC42-982618477FBC}" dt="2022-09-20T23:44:55.969" v="3" actId="20577"/>
      <pc:docMkLst>
        <pc:docMk/>
      </pc:docMkLst>
      <pc:sldChg chg="modSp">
        <pc:chgData name="Victor Chan" userId="bdab1885-a4c3-4bef-8064-6c8bcf0309df" providerId="ADAL" clId="{49BE00F7-23E8-4EB7-AC42-982618477FBC}" dt="2022-09-20T23:44:55.969" v="3" actId="20577"/>
        <pc:sldMkLst>
          <pc:docMk/>
          <pc:sldMk cId="2678211492" sldId="291"/>
        </pc:sldMkLst>
        <pc:spChg chg="mod">
          <ac:chgData name="Victor Chan" userId="bdab1885-a4c3-4bef-8064-6c8bcf0309df" providerId="ADAL" clId="{49BE00F7-23E8-4EB7-AC42-982618477FBC}" dt="2022-09-20T23:44:55.969" v="3" actId="20577"/>
          <ac:spMkLst>
            <pc:docMk/>
            <pc:sldMk cId="2678211492" sldId="291"/>
            <ac:spMk id="3" creationId="{4E5C3DBC-6891-6C5D-95E3-8ABD285C4C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D7C33-7817-4182-8A13-103C609C409B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0E1CF-D32A-4E4B-AB77-67FA49F70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52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04FF-B870-FC39-B5A7-4EDAC2EA6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C8ABA-8760-7B3D-3D16-3E376593A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89C53-49F7-831B-B68E-50EE3C0E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F4969-C80D-4577-B133-8A8C75D8E019}" type="datetime1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74935-5F8D-30D8-EA33-342C34608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6664-DF4F-B686-2FED-F82902C4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1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4626-357C-FD9C-4F57-8050E3CE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BA6B6-9368-8BDB-D346-F02898E49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EF674-FE73-15D7-693D-AFFEB1B3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E3EC0-2696-4221-96CE-0D6DAA7AD41A}" type="datetime1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6FC4-F8E4-DD8D-A23F-B34C3814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69864-A79F-15A4-A491-CE1F3B99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80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A889-ACF0-F701-68FF-FC444CF18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C6224-A91C-5F80-7627-19E2EE4A6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1E0D1-07A4-8DD0-5374-077F3233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27BC-9F6A-4D14-ADF6-4A9AFC57F594}" type="datetime1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F73C3-9083-ECC4-A1B0-D2008DC2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E6A0D-C3EF-6350-8325-60C345B2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3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D3B3-34AB-B571-54A0-CA0C8774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491A5-EF43-EF2D-834B-4F7F512ED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57472-5274-B598-15C1-054F20616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955BD-351E-8209-84CE-C0F9D6A7B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616F-9566-415B-80CB-8CA2290F94EB}" type="datetime1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0E64B-D3B1-C879-B568-88041C3C4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CCCDB-8C0B-355E-4717-FFB494A9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40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C114-6169-AE34-EBB8-9829A18A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67D26-32A2-41FC-EAB8-E4F2C4CDC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DDF88-5414-3479-91AD-1575308D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9D336-BA95-F38A-6951-56ADD0C52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7C7C88-B825-DE0C-9568-EC4D018632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F560C7-8249-ABAB-9FA6-A31545436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B5CD9-7CCC-4F57-836C-CE7FE3B36DD5}" type="datetime1">
              <a:rPr lang="en-US" smtClean="0"/>
              <a:t>9/23/2022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17B1C-F8D5-BEA5-7630-9A3C18DC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D9B96-B03B-71D9-F716-77784762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4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4C8B-1BD8-A8F0-1C02-12A0D5C85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3CE8E-B73F-C237-C4D6-619EFDE0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1F09D-FDCE-4E03-9873-8D665BD53FAE}" type="datetime1">
              <a:rPr lang="en-US" smtClean="0"/>
              <a:t>9/23/2022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690B-12A2-9467-04B8-10E1CD8B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7C827-F59E-C088-8FA4-52B435133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7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88621-E490-5A15-54B5-A91F9E06F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FB1-849F-4BDA-B765-0C47D356B090}" type="datetime1">
              <a:rPr lang="en-US" smtClean="0"/>
              <a:t>9/23/2022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D340B0-B55C-EE6B-64E6-3237C3B60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9FF23-7209-40CA-9C08-984301C8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9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B9E1-F82C-CF8B-382C-FF28C425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E9CC-CEF5-AD2A-B0E7-B2476E54C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BD4C8-9D99-78D1-CDB6-4F21DDB48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C3593-3BAC-A84C-52A9-794DCED2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C63-B347-4A95-AD8B-326E51B2BE80}" type="datetime1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E0EC8-7F5E-44E9-EC1A-220D03589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72F77-26A6-E26B-7632-11C320D1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20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AC32-3284-4EF5-EA46-EFA3D52C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728E4-C570-78AB-A682-97CC93718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F3DAB-C6A5-E023-C249-1794BC454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54724-CB56-10EC-A197-844AC939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53D5C-3245-4081-9F0F-661C4DA25812}" type="datetime1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09F59-9700-DDD7-C06B-A0AE341D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21A23-D4B7-96AA-AD40-78B67832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69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C72B-648C-839C-C15A-26DE2303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363AA-0AB7-5656-5B41-B486C072E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E1AD9-09A0-5E9A-6B66-29568616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F607-9F0E-4C0F-B596-005C23556EF0}" type="datetime1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4F27A-2E4E-4F62-7DE1-E8B92DF7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25473-01FE-65ED-9CFB-840D76A9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0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91167-5A0B-23CF-8081-CF36C93DD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AD87D-1EC5-A51D-9ADC-9139DDF16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ED96B-ED13-BDD2-6CA4-3F24AF78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5F2E3-C29D-43CA-810D-0C768E8C4447}" type="datetime1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DEA57-70A6-28C8-5686-44B51019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C3F30-8E75-71F4-D6F7-4F4D313A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08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99C27-5512-AE99-0A2B-4BFD2E2D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4E80F-33B8-5CBF-0293-9CDAF7A5F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99CBF-C2B8-AB27-9458-120268052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D4A47-B9F2-41E8-9AA4-93A3FDB7B787}" type="datetime1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20B20-9E4B-3294-9C5B-48D2B9565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7DE54-EE9D-AB3F-2779-B8B2EB951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60FD7-4BCD-4E21-9C67-3306E8364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5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C620-275A-E26A-D235-E7C23AD06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0" i="0" u="none" strike="noStrike" baseline="0" dirty="0">
                <a:latin typeface="Segoe UI" panose="020B0502040204020203" pitchFamily="34" charset="0"/>
                <a:cs typeface="Segoe UI" panose="020B0502040204020203" pitchFamily="34" charset="0"/>
              </a:rPr>
              <a:t>MSE-Optimal K-factor of the Elo Rating System for</a:t>
            </a:r>
            <a:br>
              <a:rPr lang="en-US" sz="6000" b="0" i="0" u="none" strike="noStrike" baseline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6000" b="0" i="0" u="none" strike="noStrike" baseline="0" dirty="0">
                <a:latin typeface="Segoe UI" panose="020B0502040204020203" pitchFamily="34" charset="0"/>
                <a:cs typeface="Segoe UI" panose="020B0502040204020203" pitchFamily="34" charset="0"/>
              </a:rPr>
              <a:t>Round-Robin Tournament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4D1FC-93C4-545C-4D49-023AECC05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3021466"/>
          </a:xfrm>
        </p:spPr>
        <p:txBody>
          <a:bodyPr>
            <a:normAutofit/>
          </a:bodyPr>
          <a:lstStyle/>
          <a:p>
            <a:pPr>
              <a:lnSpc>
                <a:spcPct val="30000"/>
              </a:lnSpc>
            </a:pPr>
            <a:endParaRPr lang="en-US" sz="3200" dirty="0"/>
          </a:p>
          <a:p>
            <a:pPr>
              <a:lnSpc>
                <a:spcPct val="50000"/>
              </a:lnSpc>
            </a:pPr>
            <a:endParaRPr lang="en-US" sz="3200" dirty="0"/>
          </a:p>
          <a:p>
            <a:pPr>
              <a:lnSpc>
                <a:spcPct val="50000"/>
              </a:lnSpc>
            </a:pPr>
            <a:r>
              <a:rPr lang="en-US" sz="3600" b="1" dirty="0"/>
              <a:t>Victor Chan</a:t>
            </a:r>
          </a:p>
          <a:p>
            <a:pPr>
              <a:lnSpc>
                <a:spcPct val="50000"/>
              </a:lnSpc>
            </a:pPr>
            <a:r>
              <a:rPr lang="en-US" sz="2800" dirty="0"/>
              <a:t>Western Washington University</a:t>
            </a:r>
          </a:p>
          <a:p>
            <a:pPr>
              <a:lnSpc>
                <a:spcPct val="20000"/>
              </a:lnSpc>
            </a:pPr>
            <a:endParaRPr lang="en-US" dirty="0"/>
          </a:p>
          <a:p>
            <a:pPr>
              <a:lnSpc>
                <a:spcPct val="40000"/>
              </a:lnSpc>
            </a:pPr>
            <a:endParaRPr lang="en-US" dirty="0"/>
          </a:p>
          <a:p>
            <a:pPr>
              <a:lnSpc>
                <a:spcPct val="40000"/>
              </a:lnSpc>
            </a:pPr>
            <a:endParaRPr lang="en-US" dirty="0"/>
          </a:p>
          <a:p>
            <a:pPr>
              <a:lnSpc>
                <a:spcPct val="40000"/>
              </a:lnSpc>
            </a:pPr>
            <a:endParaRPr lang="en-US" sz="2800" dirty="0"/>
          </a:p>
          <a:p>
            <a:pPr>
              <a:lnSpc>
                <a:spcPct val="40000"/>
              </a:lnSpc>
            </a:pPr>
            <a:r>
              <a:rPr lang="en-US" sz="2800" dirty="0">
                <a:solidFill>
                  <a:srgbClr val="002060"/>
                </a:solidFill>
              </a:rPr>
              <a:t>CASSIS</a:t>
            </a:r>
          </a:p>
          <a:p>
            <a:pPr>
              <a:lnSpc>
                <a:spcPct val="40000"/>
              </a:lnSpc>
            </a:pP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ea typeface="Gungsuh" panose="020B0503020000020004" pitchFamily="18" charset="-127"/>
                <a:cs typeface="Arial" panose="020B0604020202020204" pitchFamily="34" charset="0"/>
              </a:rPr>
              <a:t>Vancouver, September 2022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7E751-17CF-776A-35BA-BD353F08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45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9322-0C4E-A22C-2AA6-35E5593B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EABA4-5C8A-838D-6DD0-4A5E6656E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Elo Rating System (ERS), both in its original and modified forms,  are widely used in games and sports.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Numerous sports organizations use ERS to generate official ratings and establish rankings.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Researchers and sports enthusiasts also use ERS to make probabilistic predictions of game outcomes.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2104B-4179-C727-1DCD-4000B719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0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B65A8-7F3D-5AA3-E637-90114201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FA745-AA8E-76CB-84AE-142D5AFA1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1118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ERS algorithm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updates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the previous rating of a team/player after a match or a tournament or after some evaluation period </a:t>
            </a:r>
          </a:p>
          <a:p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Updated rating change is based on the performance of the team or player (relative to their expected performance ) during the evaluation period</a:t>
            </a:r>
          </a:p>
          <a:p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this work, we focus on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-- updating after a round-robin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    tournament</a:t>
            </a:r>
          </a:p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-- rating data from chess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1B8D8-BEAB-2207-146A-4C2CAC84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1AC6C4-CD7B-54CC-DA67-96E9A7C85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088873"/>
              </p:ext>
            </p:extLst>
          </p:nvPr>
        </p:nvGraphicFramePr>
        <p:xfrm>
          <a:off x="7584440" y="4594406"/>
          <a:ext cx="3769360" cy="1028700"/>
        </p:xfrm>
        <a:graphic>
          <a:graphicData uri="http://schemas.openxmlformats.org/drawingml/2006/table">
            <a:tbl>
              <a:tblPr firstRow="1" firstCol="1" bandRow="1"/>
              <a:tblGrid>
                <a:gridCol w="628015">
                  <a:extLst>
                    <a:ext uri="{9D8B030D-6E8A-4147-A177-3AD203B41FA5}">
                      <a16:colId xmlns:a16="http://schemas.microsoft.com/office/drawing/2014/main" val="2885295106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3998421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67805708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1774200679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3230756636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35734199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 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 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 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 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673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060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 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164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 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7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 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14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 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74589"/>
                  </a:ext>
                </a:extLst>
              </a:tr>
            </a:tbl>
          </a:graphicData>
        </a:graphic>
      </p:graphicFrame>
      <p:pic>
        <p:nvPicPr>
          <p:cNvPr id="15" name="Picture 14" descr="A group of chess pieces&#10;&#10;Description automatically generated with medium confidence">
            <a:extLst>
              <a:ext uri="{FF2B5EF4-FFF2-40B4-BE49-F238E27FC236}">
                <a16:creationId xmlns:a16="http://schemas.microsoft.com/office/drawing/2014/main" id="{3F21530F-8F9F-4F02-A0DF-3E09C27BE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884" y="5750422"/>
            <a:ext cx="1815547" cy="103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5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1CD58-9048-B01B-BC6D-4C3ACDB6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1C9061-9357-F42F-7B64-FCF0A10207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9571"/>
                <a:ext cx="10515600" cy="51380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Elo updating algorithm:</a:t>
                </a:r>
                <a:endParaRPr lang="en-US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: </a:t>
                </a: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updated rating of player (or team) after a tournament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: pre-tournament rating of player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:  K-factor (positive value)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: player’s total score in the tournament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: player’s expected score, calculated from pre-tournament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   ratings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C1C9061-9357-F42F-7B64-FCF0A10207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9571"/>
                <a:ext cx="10515600" cy="5138058"/>
              </a:xfrm>
              <a:blipFill rotWithShape="0">
                <a:blip r:embed="rId2"/>
                <a:stretch>
                  <a:fillRect l="-1217" t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FDA94-19DC-9EB2-5F65-A20B27B1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0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1CD58-9048-B01B-BC6D-4C3ACDB6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K-factor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1C9061-9357-F42F-7B64-FCF0A10207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11086"/>
                <a:ext cx="11146971" cy="511038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Focus of work:  </a:t>
                </a:r>
                <a:r>
                  <a:rPr lang="en-US" b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K-factor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900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K-factor values in current use vary from sport to sport; depend on various considerations, such as:   </a:t>
                </a:r>
              </a:p>
              <a:p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strength level or class of the participants</a:t>
                </a:r>
              </a:p>
              <a:p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significance of the game or match</a:t>
                </a:r>
              </a:p>
              <a:p>
                <a:pPr marL="0" indent="0">
                  <a:buNone/>
                </a:pPr>
                <a:endParaRPr lang="en-US" sz="900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For </a:t>
                </a:r>
                <a:r>
                  <a:rPr lang="en-US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chess</a:t>
                </a: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FIDE uses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for new or under-18 players</a:t>
                </a:r>
              </a:p>
              <a:p>
                <a:pPr marL="0" indent="0">
                  <a:buNone/>
                </a:pP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for players under 2400 rating</a:t>
                </a:r>
                <a:endParaRPr lang="en-US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b="0" dirty="0"/>
                  <a:t>                                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b="0" dirty="0"/>
                  <a:t>   </a:t>
                </a:r>
                <a:r>
                  <a:rPr lang="en-US" b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for players rated at or above 2400 rating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C1C9061-9357-F42F-7B64-FCF0A10207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11086"/>
                <a:ext cx="11146971" cy="5110389"/>
              </a:xfrm>
              <a:blipFill rotWithShape="0">
                <a:blip r:embed="rId2"/>
                <a:stretch>
                  <a:fillRect l="-1093" t="-2026" r="-219" b="-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68E56-8247-1561-CAA1-16E2802A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1746-6750-E277-A037-74900F1D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K-factor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31B98-1663-1712-24BE-5146EB153B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80218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For </a:t>
                </a:r>
                <a:r>
                  <a:rPr lang="en-US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soccer</a:t>
                </a: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since 2018 FIFA uses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that varies from 5 to 60, depending on the importance of the match.  </a:t>
                </a:r>
              </a:p>
              <a:p>
                <a:pPr marL="0" indent="0">
                  <a:buNone/>
                </a:pPr>
                <a:endParaRPr lang="en-US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Some of their values:</a:t>
                </a:r>
              </a:p>
              <a:p>
                <a:pPr marL="0" indent="0">
                  <a:buNone/>
                </a:pPr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for friendly matches played outside of International Match          	calendar window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for play-off and final matches of Nation League competitions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for Confederation final matches from QF stage onward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for FIFA World Cup final matches from QF stage onward</a:t>
                </a: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31B98-1663-1712-24BE-5146EB153B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802187"/>
              </a:xfrm>
              <a:blipFill>
                <a:blip r:embed="rId2"/>
                <a:stretch>
                  <a:fillRect l="-1043" t="-1904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9E6AC-C445-6FBB-7B49-8C2FFACB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07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088A-6BBF-C7AB-725A-366B7214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Goals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D27DF-D958-585A-931A-B73A096C4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Question: What is the “best” value for the K-factor?</a:t>
            </a:r>
          </a:p>
          <a:p>
            <a:pPr mar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Goals: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Derive the </a:t>
            </a:r>
            <a:r>
              <a:rPr lang="en-US" u="sng" dirty="0">
                <a:latin typeface="Segoe UI" panose="020B0502040204020203" pitchFamily="34" charset="0"/>
                <a:cs typeface="Segoe UI" panose="020B0502040204020203" pitchFamily="34" charset="0"/>
              </a:rPr>
              <a:t>MSE-optimal K-factor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updating the ratings after a round-robin tournament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Investigate possible influence of relevant variables, such as the number of players in the tournament, on the optimal K-factor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3F620-CCEE-886D-0049-021B2618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54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ACED-20EC-2BF9-EFEC-4357D036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69"/>
            <a:ext cx="10515600" cy="1325563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Derivation of Optimal K-factor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00588C-9DC3-9899-C152-890CA65AF0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932"/>
                <a:ext cx="10515600" cy="546006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Elo’s updating equations, for player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=1, 2,⋯,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</m:oMath>
                </a14:m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0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Sup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∗</m:t>
                          </m:r>
                        </m:sup>
                      </m:sSubSup>
                      <m:r>
                        <a:rPr lang="en-US" sz="30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𝑘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0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− 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𝑚</m:t>
                          </m:r>
                          <m:nary>
                            <m:naryPr>
                              <m:chr m:val="∑"/>
                              <m:ctrlPr>
                                <a:rPr lang="en-US" sz="30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0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𝑘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0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−</m:t>
                                  </m:r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𝑚</m:t>
                                  </m:r>
                                  <m:sSub>
                                    <m:sSubPr>
                                      <m:ctrlPr>
                                        <a:rPr lang="en-US" sz="3000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3000" dirty="0">
                  <a:cs typeface="Segoe UI" panose="020B0502040204020203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30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30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30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𝑘</m:t>
                      </m:r>
                      <m:nary>
                        <m:naryPr>
                          <m:chr m:val="∑"/>
                          <m:ctrlP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0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sz="30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                         </m:t>
                      </m:r>
                    </m:oMath>
                  </m:oMathPara>
                </a14:m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= score of player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after playing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</m:oMath>
                </a14:m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games against player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3000" dirty="0">
                    <a:cs typeface="Segoe UI" panose="020B0502040204020203" pitchFamily="34" charset="0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= win probability of player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over player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700588C-9DC3-9899-C152-890CA65AF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932"/>
                <a:ext cx="10515600" cy="5460068"/>
              </a:xfrm>
              <a:blipFill rotWithShape="0">
                <a:blip r:embed="rId2"/>
                <a:stretch>
                  <a:fillRect l="-1043" t="-3013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2EC9A-D4AC-C53F-CC39-C9F6E126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7987CC9-DB40-EE3F-20BC-4BFE363C2E73}"/>
              </a:ext>
            </a:extLst>
          </p:cNvPr>
          <p:cNvSpPr/>
          <p:nvPr/>
        </p:nvSpPr>
        <p:spPr>
          <a:xfrm rot="5400000">
            <a:off x="6017091" y="1730080"/>
            <a:ext cx="157817" cy="10232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023278C2-8B3D-367F-6A3D-9AC1A4A0AA4D}"/>
              </a:ext>
            </a:extLst>
          </p:cNvPr>
          <p:cNvSpPr/>
          <p:nvPr/>
        </p:nvSpPr>
        <p:spPr>
          <a:xfrm rot="5400000">
            <a:off x="7712575" y="1623907"/>
            <a:ext cx="217614" cy="12954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C3C978-5AB0-70A5-C04C-8BFDD5C69D3A}"/>
              </a:ext>
            </a:extLst>
          </p:cNvPr>
          <p:cNvSpPr txBox="1"/>
          <p:nvPr/>
        </p:nvSpPr>
        <p:spPr>
          <a:xfrm>
            <a:off x="7674425" y="1709698"/>
            <a:ext cx="2939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0698B-7E13-0E4F-94C2-52BC34C7B17D}"/>
              </a:ext>
            </a:extLst>
          </p:cNvPr>
          <p:cNvSpPr txBox="1"/>
          <p:nvPr/>
        </p:nvSpPr>
        <p:spPr>
          <a:xfrm>
            <a:off x="5949043" y="1709699"/>
            <a:ext cx="2939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40583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4977B-E925-1760-D5C0-9A6573A0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263752"/>
            <a:ext cx="10515600" cy="1325563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Derivation of Optimal K-factor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40F20C-28BD-CA76-2CE1-FD539690FB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3104695"/>
              </a:xfrm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40F20C-28BD-CA76-2CE1-FD539690F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3104695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E87C1-120D-7771-5536-EF110F5D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B1CB77-B5A8-6BCB-EFA7-8D76F84790C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3104695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  <a:cs typeface="Segoe UI" panose="020B0502040204020203" pitchFamily="34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⋮</m:t>
                    </m:r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B1CB77-B5A8-6BCB-EFA7-8D76F8479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3104695"/>
              </a:xfr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662CBAD-4F9A-2245-567D-5E237D8B20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1182" y="5323251"/>
                <a:ext cx="10765971" cy="14260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⋯,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′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 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𝒓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’.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662CBAD-4F9A-2245-567D-5E237D8B2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82" y="5323251"/>
                <a:ext cx="10765971" cy="1426029"/>
              </a:xfrm>
              <a:prstGeom prst="rect">
                <a:avLst/>
              </a:prstGeom>
              <a:blipFill rotWithShape="0">
                <a:blip r:embed="rId4"/>
                <a:stretch>
                  <a:fillRect l="-1132" t="-7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ket 5">
            <a:extLst>
              <a:ext uri="{FF2B5EF4-FFF2-40B4-BE49-F238E27FC236}">
                <a16:creationId xmlns:a16="http://schemas.microsoft.com/office/drawing/2014/main" id="{6CE40D85-BC53-41A8-5EFE-0D71807FF9AB}"/>
              </a:ext>
            </a:extLst>
          </p:cNvPr>
          <p:cNvSpPr/>
          <p:nvPr/>
        </p:nvSpPr>
        <p:spPr>
          <a:xfrm>
            <a:off x="1051182" y="1942829"/>
            <a:ext cx="115011" cy="287028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38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1585-668F-1155-1685-12424BC3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Derivation of Optimal K-factor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07C778-A6D3-26E7-B561-44A5C2937A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4025"/>
                <a:ext cx="11157857" cy="5367449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dirty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using the fact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⋯,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the vector of </a:t>
                </a:r>
                <a:r>
                  <a:rPr lang="en-US" u="sng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true ratings</a:t>
                </a: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B07C778-A6D3-26E7-B561-44A5C2937A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4025"/>
                <a:ext cx="11157857" cy="5367449"/>
              </a:xfrm>
              <a:blipFill rotWithShape="0">
                <a:blip r:embed="rId2"/>
                <a:stretch>
                  <a:fillRect l="-1148" b="-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526F9-21F9-E706-5DFF-FF24FEEB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79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F43C2-1BB2-601D-AF2A-3628BCB4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Derivation of Optimal K-factor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19B949-F014-491D-D719-6EF861EDE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0500"/>
                <a:ext cx="10515600" cy="53975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MSE-optimal K-factor, obtained by simple calculus, is</a:t>
                </a: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dirty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p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𝑼𝒛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                                                       </m:t>
                      </m:r>
                    </m:oMath>
                  </m:oMathPara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dirty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p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𝑼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trace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𝑼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where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−1,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vector of true win probabilities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13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−1,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vector of win probabilities based 		on pre-tournament ratings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diagonal matrix involving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19B949-F014-491D-D719-6EF861EDE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0500"/>
                <a:ext cx="10515600" cy="5397500"/>
              </a:xfrm>
              <a:blipFill>
                <a:blip r:embed="rId2"/>
                <a:stretch>
                  <a:fillRect l="-1217" t="-2825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5CA65-01BA-93D4-D4D9-5490C2720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8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87E9-87E1-21CC-B54F-3416579C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5454C1-82A1-F682-ECFC-FBBDBDE571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3078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MSE-optimal K-factor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u="sng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cannot be determined </a:t>
                </a: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because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⋯,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the vector of true ratings,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and hence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b="1" dirty="0"/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−1,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′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the vector of true win probabilities,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are </a:t>
                </a:r>
                <a:r>
                  <a:rPr lang="en-US" u="sng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not known</a:t>
                </a: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Approach: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Formulate a  reasonable model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i.e., a model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5454C1-82A1-F682-ECFC-FBBDBDE571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30787"/>
              </a:xfrm>
              <a:blipFill>
                <a:blip r:embed="rId2"/>
                <a:stretch>
                  <a:fillRect l="-1217" t="-121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BD7DA-365A-194B-94AF-EFFBC9FB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33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9D76FCC-1678-375B-9924-91938D1B553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Model for True Rating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9D76FCC-1678-375B-9924-91938D1B55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2A9D5-CA9E-93A8-07B6-60F52171D5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𝑡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=1, 2, 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is the deviation from the pre-tournament rating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Assume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~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truncated normal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0, 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∆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∆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i.e., a normal distribution centered at 0 and cut off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±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872A9D5-CA9E-93A8-07B6-60F52171D5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581D7-BD0A-A6CE-147C-4644D2DE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08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7118D5-EB41-C469-A79A-59BBE9AA778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199" y="365125"/>
                <a:ext cx="11177337" cy="13255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Optimal K –factor for MSE Averaged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17118D5-EB41-C469-A79A-59BBE9AA77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199" y="365125"/>
                <a:ext cx="11177337" cy="1325563"/>
              </a:xfrm>
              <a:blipFill rotWithShape="0">
                <a:blip r:embed="rId2"/>
                <a:stretch>
                  <a:fillRect l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B6451-FBAE-3A21-68B3-2F3B81869B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Minimizing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𝑡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𝑀𝑆𝐸</m:t>
                        </m:r>
                      </m:e>
                    </m:d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w.r.t.</a:t>
                </a: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-averaged MSE-optimal K-factor is</a:t>
                </a: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𝑡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 dirty="0"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p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p>
                                      <m:r>
                                        <a:rPr lang="en-US" b="1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dirty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𝑡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𝑼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𝑼𝒛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</m:t>
                      </m:r>
                    </m:oMath>
                  </m:oMathPara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𝑡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 dirty="0"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p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p>
                                      <m:r>
                                        <a:rPr lang="en-US" b="1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dirty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𝑡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trace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𝑼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the above can be approximated by Monte Carlo integration.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B6451-FBAE-3A21-68B3-2F3B81869B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1217" t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C229C-95BF-3AC4-C7AB-A600F986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3CF2-3F83-AD2C-D7BE-E05008F5C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Sensitivity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C996A4-3FCA-DE24-5B75-8918E69C2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Question of interest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(For simplicity, set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= 1, i.e., single-round round robin)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Given the players’ pre-tournament ratings, given in the vector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how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vary with each of the following variables?</a:t>
                </a: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ea typeface="Cambria Math" panose="02040503050406030204" pitchFamily="18" charset="0"/>
                    <a:cs typeface="Segoe UI" panose="020B0502040204020203" pitchFamily="34" charset="0"/>
                  </a:rPr>
                  <a:t>, the variability measure of the deviation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Segoe UI" panose="020B0502040204020203" pitchFamily="34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800" dirty="0">
                  <a:latin typeface="Segoe UI" panose="020B0502040204020203" pitchFamily="34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the number of players in the tournament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C996A4-3FCA-DE24-5B75-8918E69C2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1217" t="-2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31E5B-A129-4E5C-F4F6-9F725587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2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FA830-8072-04FB-1E55-E6396B8F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Sensitivity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18625A-62F7-34FB-4C42-DD9AC05B5D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9585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using Monte Carlo integration and the pre-tournament rating data from 3 elite chess tournaments held in 2019:</a:t>
                </a:r>
              </a:p>
              <a:p>
                <a:pPr marL="0" indent="0">
                  <a:buNone/>
                </a:pPr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Shamkir, 2019;  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30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 </m:t>
                    </m:r>
                  </m:oMath>
                </a14:m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10 players, single-round round robin  (</a:t>
                </a:r>
                <a14:m>
                  <m:oMath xmlns:m="http://schemas.openxmlformats.org/officeDocument/2006/math">
                    <m:r>
                      <a:rPr lang="en-US" sz="300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=1)</m:t>
                    </m:r>
                  </m:oMath>
                </a14:m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Zagreb, 2019;   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30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 </m:t>
                    </m:r>
                  </m:oMath>
                </a14:m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12 players, single-round round robin  (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30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=1)</m:t>
                    </m:r>
                  </m:oMath>
                </a14:m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Shenzhen, 2019;   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30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 </m:t>
                    </m:r>
                  </m:oMath>
                </a14:m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6 players, double round robin  </a:t>
                </a:r>
              </a:p>
              <a:p>
                <a:pPr marL="0" indent="0">
                  <a:buNone/>
                </a:pP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(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3000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=2)</m:t>
                    </m:r>
                  </m:oMath>
                </a14:m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18625A-62F7-34FB-4C42-DD9AC05B5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95851"/>
              </a:xfrm>
              <a:blipFill>
                <a:blip r:embed="rId2"/>
                <a:stretch>
                  <a:fillRect l="-1449" t="-2114" b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EB14E-5177-4C84-BE0C-D6BF4185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7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E3AEE-BEAE-D9F8-3729-FBD45CDFE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39193"/>
            <a:ext cx="3840353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Shamkir 2019</a:t>
            </a:r>
            <a:b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Chess Tournament</a:t>
            </a:r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7BD719-F43B-498F-B151-9456849E5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89369"/>
            <a:ext cx="7214616" cy="485182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091E5-2D90-6125-DB63-344EF755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3C60FD7-4BCD-4E21-9C67-3306E8364C03}" type="slidenum">
              <a:rPr lang="en-US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41C51ECA-17C2-167A-7E4D-34E60411827E}"/>
              </a:ext>
            </a:extLst>
          </p:cNvPr>
          <p:cNvSpPr txBox="1">
            <a:spLocks/>
          </p:cNvSpPr>
          <p:nvPr/>
        </p:nvSpPr>
        <p:spPr>
          <a:xfrm>
            <a:off x="8174518" y="852844"/>
            <a:ext cx="2316353" cy="58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Pre-tournament</a:t>
            </a:r>
          </a:p>
        </p:txBody>
      </p:sp>
    </p:spTree>
    <p:extLst>
      <p:ext uri="{BB962C8B-B14F-4D97-AF65-F5344CB8AC3E}">
        <p14:creationId xmlns:p14="http://schemas.microsoft.com/office/powerpoint/2010/main" val="2317436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24B2B-DC43-F891-F146-C2F58181B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Zagreb 2019 Chess</a:t>
            </a:r>
            <a:b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Tournament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894E0B-5677-72B1-C8AF-C849BB5C9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1651" y="742890"/>
            <a:ext cx="7628721" cy="56989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73F54-7A5C-CA22-8FCA-C5890848A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3C60FD7-4BCD-4E21-9C67-3306E8364C03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73A55-51BA-10B6-A685-6E3E59803360}"/>
              </a:ext>
            </a:extLst>
          </p:cNvPr>
          <p:cNvSpPr txBox="1"/>
          <p:nvPr/>
        </p:nvSpPr>
        <p:spPr>
          <a:xfrm>
            <a:off x="8247153" y="639193"/>
            <a:ext cx="233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Pre-tournament</a:t>
            </a:r>
          </a:p>
        </p:txBody>
      </p:sp>
    </p:spTree>
    <p:extLst>
      <p:ext uri="{BB962C8B-B14F-4D97-AF65-F5344CB8AC3E}">
        <p14:creationId xmlns:p14="http://schemas.microsoft.com/office/powerpoint/2010/main" val="148470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7DFFA-464B-F1B6-A175-45B3F82D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639193"/>
            <a:ext cx="4216974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Shenzhen 2019 </a:t>
            </a:r>
            <a:b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Chess Tournament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2E984A-8FB3-5390-2821-4771897A1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557520"/>
            <a:ext cx="7214616" cy="37155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F14EA-7838-EBBE-AE0B-985272B0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3C60FD7-4BCD-4E21-9C67-3306E8364C03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489CE8-F900-683F-892C-9EDBA306E2FA}"/>
              </a:ext>
            </a:extLst>
          </p:cNvPr>
          <p:cNvSpPr txBox="1"/>
          <p:nvPr/>
        </p:nvSpPr>
        <p:spPr>
          <a:xfrm>
            <a:off x="8141254" y="1557520"/>
            <a:ext cx="233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Pre-tournament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B42CB-BA37-E644-785E-9DCEDD46236E}"/>
                  </a:ext>
                </a:extLst>
              </p:cNvPr>
              <p:cNvSpPr txBox="1"/>
              <p:nvPr/>
            </p:nvSpPr>
            <p:spPr>
              <a:xfrm>
                <a:off x="838201" y="5645202"/>
                <a:ext cx="1064622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Note</a:t>
                </a:r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Even though </a:t>
                </a:r>
                <a:r>
                  <a:rPr lang="en-US" sz="24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</a:t>
                </a:r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= 2 for this tournament, </a:t>
                </a:r>
                <a:r>
                  <a:rPr lang="en-US" sz="24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</a:t>
                </a:r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is set to 1 when 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for comparison purposes.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B42CB-BA37-E644-785E-9DCEDD462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645202"/>
                <a:ext cx="10646228" cy="830997"/>
              </a:xfrm>
              <a:prstGeom prst="rect">
                <a:avLst/>
              </a:prstGeom>
              <a:blipFill>
                <a:blip r:embed="rId3"/>
                <a:stretch>
                  <a:fillRect l="-916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864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99161-00AA-F8AC-A0C8-334F0853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3C60FD7-4BCD-4E21-9C67-3306E8364C0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le 1">
                <a:extLst>
                  <a:ext uri="{FF2B5EF4-FFF2-40B4-BE49-F238E27FC236}">
                    <a16:creationId xmlns:a16="http://schemas.microsoft.com/office/drawing/2014/main" id="{2C05FF2B-3BC1-4C3F-966E-38930CDE0D0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0650"/>
                <a:ext cx="10515600" cy="1006475"/>
              </a:xfrm>
            </p:spPr>
            <p:txBody>
              <a:bodyPr/>
              <a:lstStyle/>
              <a:p>
                <a:pPr algn="ctr"/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Graph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vs.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(3 tournaments)</a:t>
                </a:r>
              </a:p>
            </p:txBody>
          </p:sp>
        </mc:Choice>
        <mc:Fallback xmlns="">
          <p:sp>
            <p:nvSpPr>
              <p:cNvPr id="38" name="Title 1">
                <a:extLst>
                  <a:ext uri="{FF2B5EF4-FFF2-40B4-BE49-F238E27FC236}">
                    <a16:creationId xmlns:a16="http://schemas.microsoft.com/office/drawing/2014/main" id="{2C05FF2B-3BC1-4C3F-966E-38930CDE0D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0650"/>
                <a:ext cx="10515600" cy="1006475"/>
              </a:xfrm>
              <a:blipFill>
                <a:blip r:embed="rId2"/>
                <a:stretch>
                  <a:fillRect t="-3636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7EE9E508-7A25-7F5C-C6A1-41FC76A0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942" y="1254523"/>
            <a:ext cx="7832723" cy="52218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57AFC6-29BE-1701-7CE3-855FC5F55AD5}"/>
                  </a:ext>
                </a:extLst>
              </p:cNvPr>
              <p:cNvSpPr txBox="1"/>
              <p:nvPr/>
            </p:nvSpPr>
            <p:spPr>
              <a:xfrm>
                <a:off x="1558470" y="3477409"/>
                <a:ext cx="57694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57AFC6-29BE-1701-7CE3-855FC5F55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470" y="3477409"/>
                <a:ext cx="5769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048E55-1B3E-7520-9C3C-38883C0FE19B}"/>
                  </a:ext>
                </a:extLst>
              </p:cNvPr>
              <p:cNvSpPr txBox="1"/>
              <p:nvPr/>
            </p:nvSpPr>
            <p:spPr>
              <a:xfrm>
                <a:off x="5595257" y="6290588"/>
                <a:ext cx="533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∆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048E55-1B3E-7520-9C3C-38883C0FE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257" y="6290588"/>
                <a:ext cx="5334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625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6048-9A8B-E22C-C8DD-C2B3EA7F0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Observations from the 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C3DBC-6891-6C5D-95E3-8ABD285C4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705142"/>
                <a:ext cx="11027229" cy="516890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 every case,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increases, so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  <a:p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rises at a faster rate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is smaller.  This is true in general.</a:t>
                </a:r>
              </a:p>
              <a:p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World Chess Federation (FIDE) uses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=10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for its top-level tournaments. This corresponds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50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 the graph. </a:t>
                </a:r>
              </a:p>
              <a:p>
                <a:pPr marL="0" indent="0">
                  <a:buNone/>
                </a:pP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=50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is a reasonable value for the ‘std. dev.’ of the                  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deviation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for grandmasters of chess.</a:t>
                </a: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FIDE’s choice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=10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seems to be appropriate.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C3DBC-6891-6C5D-95E3-8ABD285C4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705142"/>
                <a:ext cx="11027229" cy="5168900"/>
              </a:xfrm>
              <a:blipFill>
                <a:blip r:embed="rId2"/>
                <a:stretch>
                  <a:fillRect l="-1106" t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76E99-C33A-7E11-5EE7-BACBCD05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F73F74-65EB-F16B-EAE3-B709200EC0AE}"/>
                  </a:ext>
                </a:extLst>
              </p:cNvPr>
              <p:cNvSpPr txBox="1"/>
              <p:nvPr/>
            </p:nvSpPr>
            <p:spPr>
              <a:xfrm>
                <a:off x="609598" y="5769471"/>
                <a:ext cx="4572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BF73F74-65EB-F16B-EAE3-B709200EC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5769471"/>
                <a:ext cx="457200" cy="7694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8211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430CC-67E8-00C2-4DAA-613E10274A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36562"/>
                <a:ext cx="10515600" cy="1006475"/>
              </a:xfrm>
            </p:spPr>
            <p:txBody>
              <a:bodyPr/>
              <a:lstStyle/>
              <a:p>
                <a:pPr algn="ctr"/>
                <a:r>
                  <a:rPr lang="en-US" dirty="0"/>
                  <a:t>Graph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sub>
                    </m:sSub>
                  </m:oMath>
                </a14:m>
                <a:r>
                  <a:rPr lang="en-US" dirty="0"/>
                  <a:t> (simulated results)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430CC-67E8-00C2-4DAA-613E10274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36562"/>
                <a:ext cx="10515600" cy="1006475"/>
              </a:xfrm>
              <a:blipFill>
                <a:blip r:embed="rId2"/>
                <a:stretch>
                  <a:fillRect t="-3614" b="-13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Chart, scatter chart&#10;&#10;Description automatically generated">
            <a:extLst>
              <a:ext uri="{FF2B5EF4-FFF2-40B4-BE49-F238E27FC236}">
                <a16:creationId xmlns:a16="http://schemas.microsoft.com/office/drawing/2014/main" id="{F3650F36-387D-CE28-CD45-B3847BA46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57" y="1213341"/>
            <a:ext cx="7805057" cy="523246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88563-3548-61AA-EAC0-A20EF3C2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E33303-25B0-F90C-8F7F-5BF7CE96B6D2}"/>
                  </a:ext>
                </a:extLst>
              </p:cNvPr>
              <p:cNvSpPr txBox="1"/>
              <p:nvPr/>
            </p:nvSpPr>
            <p:spPr>
              <a:xfrm>
                <a:off x="1525812" y="3429000"/>
                <a:ext cx="57694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E33303-25B0-F90C-8F7F-5BF7CE96B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812" y="3429000"/>
                <a:ext cx="5769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A91388-407C-1330-E851-540D5F408EDF}"/>
                  </a:ext>
                </a:extLst>
              </p:cNvPr>
              <p:cNvSpPr txBox="1"/>
              <p:nvPr/>
            </p:nvSpPr>
            <p:spPr>
              <a:xfrm>
                <a:off x="5660573" y="6290588"/>
                <a:ext cx="533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∆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A91388-407C-1330-E851-540D5F408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573" y="6290588"/>
                <a:ext cx="5334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6477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7C68-6D9A-A100-DE82-46368F78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7F4A02-D960-8250-8476-31B829CBA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We derived the formula for the MSE-optimal K-factor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for updating Elo ratings after a tournament.</a:t>
                </a:r>
              </a:p>
              <a:p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is highly influenced by two factors: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- the number of participants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 the tournament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- the overall variability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of the difference between a player’s  	true rating/strength and pre-tournament rating/strength</a:t>
                </a:r>
              </a:p>
              <a:p>
                <a:pPr marL="0" indent="0"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∆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67F4A02-D960-8250-8476-31B829CBA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 rotWithShape="0">
                <a:blip r:embed="rId2"/>
                <a:stretch>
                  <a:fillRect l="-1043" t="-2114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3122B-5EBB-DA27-B265-8872AB88C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6F1B14-35C5-2D4D-3D3F-DCC4EEDF8FF0}"/>
              </a:ext>
            </a:extLst>
          </p:cNvPr>
          <p:cNvCxnSpPr/>
          <p:nvPr/>
        </p:nvCxnSpPr>
        <p:spPr>
          <a:xfrm flipV="1">
            <a:off x="2416629" y="5617029"/>
            <a:ext cx="0" cy="587828"/>
          </a:xfrm>
          <a:prstGeom prst="straightConnector1">
            <a:avLst/>
          </a:prstGeom>
          <a:ln w="444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EFFC22-73A9-0395-0FE7-6470D9205FC7}"/>
              </a:ext>
            </a:extLst>
          </p:cNvPr>
          <p:cNvCxnSpPr>
            <a:cxnSpLocks/>
          </p:cNvCxnSpPr>
          <p:nvPr/>
        </p:nvCxnSpPr>
        <p:spPr>
          <a:xfrm>
            <a:off x="3987012" y="5617029"/>
            <a:ext cx="0" cy="587828"/>
          </a:xfrm>
          <a:prstGeom prst="straightConnector1">
            <a:avLst/>
          </a:prstGeom>
          <a:ln w="444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7CC62C-3C1E-A7F1-E7CD-0B4256E57F38}"/>
              </a:ext>
            </a:extLst>
          </p:cNvPr>
          <p:cNvCxnSpPr/>
          <p:nvPr/>
        </p:nvCxnSpPr>
        <p:spPr>
          <a:xfrm flipV="1">
            <a:off x="6848533" y="5617029"/>
            <a:ext cx="0" cy="587828"/>
          </a:xfrm>
          <a:prstGeom prst="straightConnector1">
            <a:avLst/>
          </a:prstGeom>
          <a:ln w="444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494374-92F1-09DC-7028-1F29A48771A0}"/>
              </a:ext>
            </a:extLst>
          </p:cNvPr>
          <p:cNvCxnSpPr/>
          <p:nvPr/>
        </p:nvCxnSpPr>
        <p:spPr>
          <a:xfrm flipV="1">
            <a:off x="8399986" y="5617029"/>
            <a:ext cx="0" cy="587828"/>
          </a:xfrm>
          <a:prstGeom prst="straightConnector1">
            <a:avLst/>
          </a:prstGeom>
          <a:ln w="444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277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A8BB7-8F74-8381-1ACB-2B15AA3AD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4CB8E1-979E-F811-B375-D8F80CBE3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961914" cy="5030787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sz="3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Implications:</a:t>
                </a:r>
              </a:p>
              <a:p>
                <a:pPr marL="0" indent="0">
                  <a:buNone/>
                </a:pPr>
                <a:endParaRPr lang="en-US" sz="15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3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larger the tournament size, the smaller the K-factor should be.</a:t>
                </a:r>
              </a:p>
              <a:p>
                <a:endParaRPr lang="en-US" sz="3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sz="3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greater the overall deviation between the players’ estimated pre-tournament strengths and their true strengths, the greater the K-factor should be.</a:t>
                </a:r>
              </a:p>
              <a:p>
                <a:endParaRPr lang="en-US" sz="4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3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For competitions such as junior-level championships, where many players tend to make improvement “leaps”,    </a:t>
                </a:r>
                <a:endParaRPr lang="en-US" sz="3600" i="1" dirty="0">
                  <a:latin typeface="Segoe UI" panose="020B0502040204020203" pitchFamily="34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</m:oMath>
                </a14:m>
                <a:r>
                  <a:rPr lang="en-US" sz="3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K-factor should be high</a:t>
                </a:r>
              </a:p>
              <a:p>
                <a:endParaRPr lang="en-US" sz="3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3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4CB8E1-979E-F811-B375-D8F80CBE3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961914" cy="5030787"/>
              </a:xfrm>
              <a:blipFill>
                <a:blip r:embed="rId2"/>
                <a:stretch>
                  <a:fillRect l="-1168" t="-3632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4FE96-B7A0-9E21-9BA5-982384DA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4288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20BD-5A7A-74FF-75E4-51B8D2E6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1BFBC-E802-8154-FCFE-F7B03A6AD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For more details, see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Chan, Victor. "MSE-optimal K-factor of the Elo rating system for round-robin tournament" </a:t>
            </a:r>
            <a:r>
              <a:rPr lang="en-US" b="1" i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Journal of Quantitative Analysis in Sports</a:t>
            </a: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vol. 18, no. 1, 2022, pp. 59-72.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				</a:t>
            </a:r>
            <a:r>
              <a:rPr lang="en-US" sz="4800" dirty="0">
                <a:latin typeface="Segoe UI" panose="020B0502040204020203" pitchFamily="34" charset="0"/>
                <a:cs typeface="Segoe UI" panose="020B0502040204020203" pitchFamily="34" charset="0"/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93923-6B6D-DFF6-F223-4244D829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60FD7-4BCD-4E21-9C67-3306E8364C0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84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3549</TotalTime>
  <Words>1326</Words>
  <Application>Microsoft Office PowerPoint</Application>
  <PresentationFormat>Widescreen</PresentationFormat>
  <Paragraphs>272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Segoe UI</vt:lpstr>
      <vt:lpstr>Office Theme</vt:lpstr>
      <vt:lpstr>MSE-Optimal K-factor of the Elo Rating System for Round-Robin Tournament</vt:lpstr>
      <vt:lpstr>Introduction</vt:lpstr>
      <vt:lpstr>Introduction</vt:lpstr>
      <vt:lpstr>Introduction</vt:lpstr>
      <vt:lpstr>K-factor</vt:lpstr>
      <vt:lpstr>K-factor</vt:lpstr>
      <vt:lpstr>Goals of Work</vt:lpstr>
      <vt:lpstr>Derivation of Optimal K-factor</vt:lpstr>
      <vt:lpstr>Derivation of Optimal K-factor</vt:lpstr>
      <vt:lpstr>Derivation of Optimal K-factor</vt:lpstr>
      <vt:lpstr>Derivation of Optimal K-factor</vt:lpstr>
      <vt:lpstr>PowerPoint Presentation</vt:lpstr>
      <vt:lpstr>Model for True Rating R^t</vt:lpstr>
      <vt:lpstr>Optimal K –factor for MSE Averaged over R^t </vt:lpstr>
      <vt:lpstr>Sensitivity Analysis</vt:lpstr>
      <vt:lpstr>Sensitivity Analysis</vt:lpstr>
      <vt:lpstr>Shamkir 2019 Chess Tournament</vt:lpstr>
      <vt:lpstr>Zagreb 2019 Chess Tournament</vt:lpstr>
      <vt:lpstr>Shenzhen 2019  Chess Tournament</vt:lpstr>
      <vt:lpstr>Graph of k_o vs. σ_∆  (3 tournaments)</vt:lpstr>
      <vt:lpstr>Observations from the graph</vt:lpstr>
      <vt:lpstr>Graph of k_o vs. σ_∆ (simulated results)</vt:lpstr>
      <vt:lpstr>Takeaways</vt:lpstr>
      <vt:lpstr>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MSE-Optimal K-factor of the Elo Rating System for Round-Robin Tournament</dc:title>
  <dc:creator>Victor Chan</dc:creator>
  <cp:lastModifiedBy>Victor Chan</cp:lastModifiedBy>
  <cp:revision>290</cp:revision>
  <dcterms:created xsi:type="dcterms:W3CDTF">2022-08-02T21:50:57Z</dcterms:created>
  <dcterms:modified xsi:type="dcterms:W3CDTF">2022-09-23T22:19:04Z</dcterms:modified>
</cp:coreProperties>
</file>